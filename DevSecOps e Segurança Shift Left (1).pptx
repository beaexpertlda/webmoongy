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2" r:id="rId15"/>
    <p:sldId id="271" r:id="rId16"/>
    <p:sldId id="268" r:id="rId17"/>
  </p:sldIdLst>
  <p:sldSz cx="12192000" cy="6858000"/>
  <p:notesSz cx="6858000" cy="9144000"/>
  <p:embeddedFontLst>
    <p:embeddedFont>
      <p:font typeface="JetBrains Mono"/>
      <p:regular r:id="rId18"/>
    </p:embeddedFont>
    <p:embeddedFont>
      <p:font typeface="Plus Jakarta Sans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70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jwt.io/" TargetMode="Externa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474815"/>
            <a:ext cx="109728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47481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97384"/>
            <a:ext cx="2667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192684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Plus Jakarta Sans"/>
              </a:rPr>
              <a:t>DevSecOps &amp; O Paradigma </a:t>
            </a:r>
            <a:r>
              <a:rPr sz="3900" b="1" i="0" u="none">
                <a:solidFill>
                  <a:srgbClr val="06B6D4"/>
                </a:solidFill>
                <a:latin typeface="Plus Jakarta Sans"/>
              </a:rPr>
              <a:t>Shift Left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522315"/>
            <a:ext cx="6953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Integração contínua de segurança no ciclo de vida de desenvolvimento, contentores e pipelines automatizados.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1730722"/>
            <a:ext cx="237577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6B6D4"/>
                </a:solidFill>
                <a:latin typeface="Plus Jakarta Sans"/>
              </a:rPr>
              <a:t>ENGENHARIA DE SOFTWARE SEGURA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751040"/>
            <a:ext cx="2547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DURAÇÃO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960590"/>
            <a:ext cx="2547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50 Minutos + Demonstracao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2750" y="4751040"/>
            <a:ext cx="3488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TECNOLOGIAS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2750" y="4960590"/>
            <a:ext cx="3488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Docker • SonarQube • GitHub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582275" y="609600"/>
            <a:ext cx="1000125" cy="285750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43187"/>
            <a:ext cx="3505200" cy="2466975"/>
          </a:xfrm>
          <a:prstGeom prst="roundRect">
            <a:avLst>
              <a:gd name="adj" fmla="val 4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757487"/>
            <a:ext cx="3505200" cy="2238375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643187"/>
            <a:ext cx="3505200" cy="2466975"/>
          </a:xfrm>
          <a:prstGeom prst="roundRect">
            <a:avLst>
              <a:gd name="adj" fmla="val 4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919412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033712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2919412"/>
            <a:ext cx="33337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34675" y="666750"/>
            <a:ext cx="7905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10 Minutos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46077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01. INTRODUÇÃO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6750"/>
            <a:ext cx="4838104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O Paradigma "Shift Left"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338512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Modelo Tradicional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690937"/>
            <a:ext cx="3048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Segurança validada apenas na fase final ou em produção. Erros geram retrabalho crítico, atrasos nas entregas e custos de correção exponencialmente mais elevados.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452812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Conceito Shift Left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805237"/>
            <a:ext cx="3048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Antecipação dos testes de segurança para a fase de conceção e codificação. Identificação de falhas no momento em que o código é escrito.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338512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Cultura DevSecOps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690937"/>
            <a:ext cx="3048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Responsabilidade partilhada entre Desenvolvimento, Segurança e Operações. A segurança atua como facilitadora sem bloquear a velocidade da equipa.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43200"/>
            <a:ext cx="5181600" cy="2266950"/>
          </a:xfrm>
          <a:prstGeom prst="roundRect">
            <a:avLst>
              <a:gd name="adj" fmla="val 50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91400" y="3190875"/>
            <a:ext cx="3657600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91400" y="3571875"/>
            <a:ext cx="3657600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91400" y="3952875"/>
            <a:ext cx="3657600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91400" y="4333875"/>
            <a:ext cx="3657600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91400" y="3190875"/>
            <a:ext cx="18276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91400" y="3571875"/>
            <a:ext cx="54858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91400" y="3952875"/>
            <a:ext cx="1097160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91400" y="4333875"/>
            <a:ext cx="3657600" cy="228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IMPACTO FINANCEIRO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Custo Relativo da Correção de Falhas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6425" y="3048000"/>
            <a:ext cx="3309937" cy="1066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sz="8400" b="1" i="0" u="none">
                <a:solidFill>
                  <a:srgbClr val="0891B2"/>
                </a:solidFill>
                <a:latin typeface="Plus Jakarta Sans"/>
              </a:rPr>
              <a:t>100x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" y="4267200"/>
            <a:ext cx="5715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475569"/>
                </a:solidFill>
                <a:latin typeface="Plus Jakarta Sans"/>
              </a:rPr>
              <a:t>Mais dispendioso corrigir uma vulnerabilidade em produção do que na fase de arquitetura.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3219450"/>
            <a:ext cx="1428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Requisitos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3219450"/>
            <a:ext cx="666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1x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3600450"/>
            <a:ext cx="1428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Codificação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3600450"/>
            <a:ext cx="666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5x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0" y="3981450"/>
            <a:ext cx="1428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Build e Testes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3981450"/>
            <a:ext cx="666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15x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4362450"/>
            <a:ext cx="1428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Produção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4362450"/>
            <a:ext cx="666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100x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582275" y="609600"/>
            <a:ext cx="1000125" cy="285750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2162175"/>
            <a:ext cx="5495925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324100"/>
            <a:ext cx="5172075" cy="3105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700337"/>
            <a:ext cx="419100" cy="466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548062"/>
            <a:ext cx="466725" cy="4667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395787"/>
            <a:ext cx="400050" cy="4667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852737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3700462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4548187"/>
            <a:ext cx="17145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34675" y="666750"/>
            <a:ext cx="7905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10 Minutos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66079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02. PIPELINE &amp; SPRINT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66750"/>
            <a:ext cx="6938367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Segurança Contínua no Ciclo CI/CD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100" y="2700337"/>
            <a:ext cx="603825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Planeamento &amp; User Stories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2957512"/>
            <a:ext cx="46958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Definição clara de critérios de aceitação focados em segurança e modelação de ameaças no início de cada Sprint.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8725" y="3548062"/>
            <a:ext cx="59757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Análise Estática (SAST)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8725" y="3805237"/>
            <a:ext cx="4648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Integração do SAST diretamente no ambiente de desenvolvimento (IDE) e validação automática a cada commit.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2050" y="4395787"/>
            <a:ext cx="606325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Automação Transparente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4652962"/>
            <a:ext cx="47148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Execução de verificações velozes sem prejudicar o ritmo de entrega ou interromper o trabalho dos desenvolvedores.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582275" y="609600"/>
            <a:ext cx="1000125" cy="285750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062287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3062287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3062287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38512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38512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38512"/>
            <a:ext cx="23812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34675" y="666750"/>
            <a:ext cx="7905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10 Minutos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5774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03. CONTENTORES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6750"/>
            <a:ext cx="6063257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Segurança em Imagens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757612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Imagens Mínimas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052887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Aposta em Alpine ou Distroless para redução da superfície de ataque.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757612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Scans Automatizados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4052887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Uso de Trivy ou Docker Scout para análise contínua de SO e dependências.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757612"/>
            <a:ext cx="3838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Hardening Dockerfile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4052887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Execução com utilizadores não-root e gestão rigorosa de segredos.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36130"/>
            <a:ext cx="6583709" cy="3442989"/>
          </a:xfrm>
          <a:prstGeom prst="roundRect">
            <a:avLst>
              <a:gd name="adj" fmla="val 331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498109" y="2833687"/>
            <a:ext cx="4084290" cy="581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109" y="3567112"/>
            <a:ext cx="4084290" cy="581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98109" y="4300537"/>
            <a:ext cx="4084290" cy="581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109" y="2833687"/>
            <a:ext cx="38100" cy="5810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109" y="3567112"/>
            <a:ext cx="38100" cy="581025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109" y="4300537"/>
            <a:ext cx="38100" cy="58102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BOAS PRÁTICAS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Anatomia de um Dockerfile Seguro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364730"/>
            <a:ext cx="7658137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JetBrains Mono"/>
              </a:rPr>
              <a:t># 1. Imagem minima e especifica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78000"/>
            <a:ext cx="7658137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43F5E"/>
                </a:solidFill>
                <a:latin typeface="JetBrains Mono"/>
              </a:rPr>
              <a:t>FROM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node:18-alpine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004542"/>
            <a:ext cx="7658137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JetBrains Mono"/>
              </a:rPr>
              <a:t># 2. Criar utilizador nao-privilegiado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217812"/>
            <a:ext cx="7658137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43F5E"/>
                </a:solidFill>
                <a:latin typeface="JetBrains Mono"/>
              </a:rPr>
              <a:t>RUN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addgroup -S appgroup &amp;&amp; adduser -S appuser -G appgroup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644354"/>
            <a:ext cx="7658137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JetBrains Mono"/>
              </a:rPr>
              <a:t># 3. Definir diretorio e permissoes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857625"/>
            <a:ext cx="7658137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43F5E"/>
                </a:solidFill>
                <a:latin typeface="JetBrains Mono"/>
              </a:rPr>
              <a:t>WORKDIR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/usr/src/app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070895"/>
            <a:ext cx="7658137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43F5E"/>
                </a:solidFill>
                <a:latin typeface="JetBrains Mono"/>
              </a:rPr>
              <a:t>COPY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--chown=appuser:appgroup . 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4497437"/>
            <a:ext cx="7658137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JetBrains Mono"/>
              </a:rPr>
              <a:t># 4. Alterar para utilizador sem privilégios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0707"/>
            <a:ext cx="7658137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43F5E"/>
                </a:solidFill>
                <a:latin typeface="JetBrains Mono"/>
              </a:rPr>
              <a:t>USER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appuser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5137249"/>
            <a:ext cx="7658137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43F5E"/>
                </a:solidFill>
                <a:latin typeface="JetBrains Mono"/>
              </a:rPr>
              <a:t>CMD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["node", "server.js"]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8609" y="2833687"/>
            <a:ext cx="450339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Princípio do Menor Privilégio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8609" y="3071812"/>
            <a:ext cx="398904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Elimina acessos administrativos caso o contentor seja comprometido.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8609" y="3567112"/>
            <a:ext cx="450339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Zero Hardcoded Credentials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8609" y="3805237"/>
            <a:ext cx="398904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Chaves e segredos injetados estritamente via variáveis de ambiente.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8609" y="4300537"/>
            <a:ext cx="450339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Superfície Reduzida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8609" y="4538662"/>
            <a:ext cx="398904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Menos binários e utilitários instalados equivalem a menos vulnerabilidades.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601325" y="609600"/>
            <a:ext cx="981075" cy="285750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062287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3062287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3062287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38512"/>
            <a:ext cx="17145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38512"/>
            <a:ext cx="3048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38512"/>
            <a:ext cx="3048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53725" y="66675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12 Minutos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5679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04. QUALIDADE &amp; SEGURANÇA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6750"/>
            <a:ext cx="596324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Quality Gates com SonarQube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757612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Semáforo Automático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052887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Aprovação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ou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rejeição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automática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código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antes do merge.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757612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Métricas Essenciais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4052887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Distinção clara entre Vulnerabilidades e Code Smells.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757612"/>
            <a:ext cx="3838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Security Hotspots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4052887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Deteção de trechos sensíveis que exigem validação humana.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75597"/>
            <a:ext cx="152400" cy="152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989947"/>
            <a:ext cx="13335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504297"/>
            <a:ext cx="1905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75597"/>
            <a:ext cx="1524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989947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504297"/>
            <a:ext cx="1905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ANÁLISE DE CÓDIGO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66750"/>
            <a:ext cx="143468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SonarQube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6892B94-C8D3-DED2-5C02-AA2637B62D4B}"/>
              </a:ext>
            </a:extLst>
          </p:cNvPr>
          <p:cNvSpPr txBox="1"/>
          <p:nvPr/>
        </p:nvSpPr>
        <p:spPr>
          <a:xfrm>
            <a:off x="1564256" y="2020293"/>
            <a:ext cx="9454551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rPr lang="pt-PT" sz="1600" dirty="0">
                <a:latin typeface="Plus Jakarta Sans"/>
              </a:rPr>
              <a:t>• O que são </a:t>
            </a:r>
            <a:r>
              <a:rPr lang="pt-PT" sz="1600" dirty="0" err="1">
                <a:latin typeface="Plus Jakarta Sans"/>
              </a:rPr>
              <a:t>Quality</a:t>
            </a:r>
            <a:r>
              <a:rPr lang="pt-PT" sz="1600" dirty="0">
                <a:latin typeface="Plus Jakarta Sans"/>
              </a:rPr>
              <a:t> Gates: O "semáforo" automático que aprova ou rejeita o código antes de permitir qualquer </a:t>
            </a:r>
            <a:r>
              <a:rPr lang="pt-PT" sz="1600" dirty="0" err="1">
                <a:latin typeface="Plus Jakarta Sans"/>
              </a:rPr>
              <a:t>merge</a:t>
            </a:r>
            <a:r>
              <a:rPr lang="pt-PT" sz="1600" dirty="0">
                <a:latin typeface="Plus Jakarta Sans"/>
              </a:rPr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rPr lang="pt-PT" sz="1600" dirty="0">
                <a:latin typeface="Plus Jakarta Sans"/>
              </a:rPr>
              <a:t>• Métricas-Chave: Distinção prática entre Vulnerabilidades (falhas exploráveis) e </a:t>
            </a:r>
            <a:r>
              <a:rPr lang="pt-PT" sz="1600" dirty="0" err="1">
                <a:latin typeface="Plus Jakarta Sans"/>
              </a:rPr>
              <a:t>Code</a:t>
            </a:r>
            <a:r>
              <a:rPr lang="pt-PT" sz="1600" dirty="0">
                <a:latin typeface="Plus Jakarta Sans"/>
              </a:rPr>
              <a:t> </a:t>
            </a:r>
            <a:r>
              <a:rPr lang="pt-PT" sz="1600" dirty="0" err="1">
                <a:latin typeface="Plus Jakarta Sans"/>
              </a:rPr>
              <a:t>Smells</a:t>
            </a:r>
            <a:r>
              <a:rPr lang="pt-PT" sz="1600" dirty="0">
                <a:latin typeface="Plus Jakarta Sans"/>
              </a:rPr>
              <a:t> (má qualidade de código).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rPr lang="pt-PT" sz="1600" dirty="0">
                <a:latin typeface="Plus Jakarta Sans"/>
              </a:rPr>
              <a:t>• </a:t>
            </a:r>
            <a:r>
              <a:rPr lang="pt-PT" sz="1600" dirty="0" err="1">
                <a:latin typeface="Plus Jakarta Sans"/>
              </a:rPr>
              <a:t>Security</a:t>
            </a:r>
            <a:r>
              <a:rPr lang="pt-PT" sz="1600" dirty="0">
                <a:latin typeface="Plus Jakarta Sans"/>
              </a:rPr>
              <a:t> Hotspots: Identificação de pontos críticos que exigem validação manual humana.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rPr lang="pt-PT" sz="1600" dirty="0">
                <a:latin typeface="Plus Jakarta Sans"/>
              </a:rPr>
              <a:t>• Efeito Prático: Configuração de bloqueio no pipeline para impedir terminantemente que código inseguro avança.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D769BE-AA95-7413-093F-EE5A6BFAEADF}"/>
              </a:ext>
            </a:extLst>
          </p:cNvPr>
          <p:cNvSpPr txBox="1"/>
          <p:nvPr/>
        </p:nvSpPr>
        <p:spPr>
          <a:xfrm>
            <a:off x="5400135" y="5093594"/>
            <a:ext cx="2978990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rPr lang="pt-PT" sz="1800" dirty="0">
                <a:latin typeface="Plus Jakarta Sans"/>
              </a:rPr>
              <a:t>	</a:t>
            </a:r>
            <a:r>
              <a:rPr lang="pt-PT" sz="1800" dirty="0">
                <a:latin typeface="Plus Jakarta Sans"/>
                <a:hlinkClick r:id="rId5"/>
              </a:rPr>
              <a:t>www.jwt.io</a:t>
            </a:r>
            <a:endParaRPr lang="pt-PT" sz="1800" dirty="0">
              <a:latin typeface="Plus Jakarta Sans"/>
            </a:endParaRP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rPr lang="pt-PT" sz="1800" dirty="0">
                <a:latin typeface="Plus Jakarta Sans"/>
              </a:rPr>
              <a:t>	www.owasp.org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648950" y="609600"/>
            <a:ext cx="933450" cy="285750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352550"/>
            <a:ext cx="5343525" cy="5048250"/>
          </a:xfrm>
          <a:prstGeom prst="roundRect">
            <a:avLst>
              <a:gd name="adj" fmla="val 22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57925" y="1352550"/>
            <a:ext cx="5324475" cy="5048250"/>
          </a:xfrm>
          <a:prstGeom prst="roundRect">
            <a:avLst>
              <a:gd name="adj" fmla="val 2264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3027015"/>
            <a:ext cx="4714875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443287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895725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4448175"/>
            <a:ext cx="1524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01350" y="66675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8 Minutos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6536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05. CONCLUSÃO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6750"/>
            <a:ext cx="6863357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Resumo de Impacto &amp; Mentalidade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028950"/>
            <a:ext cx="618827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Resultados Alcançados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484215"/>
            <a:ext cx="4810125" cy="88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FFFFFF"/>
                </a:solidFill>
                <a:latin typeface="Plus Jakarta Sans"/>
              </a:rPr>
              <a:t>A segurança não é um produto final ou uma fase isolada, mas sim um processo evolutivo contínuo.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4554735"/>
            <a:ext cx="56292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Plus Jakarta Sans"/>
              </a:rPr>
              <a:t>Cultura DevSecOps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625" y="3419475"/>
            <a:ext cx="5626893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Menor Risco: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Redução de falhas críticas em produção.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625" y="3771900"/>
            <a:ext cx="4543425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Conformidade: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Auditoria facilitada e evidências automáticas.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" y="4324350"/>
            <a:ext cx="4543425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Entregas Rápidas: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Ciclos de lançamento protegidos e ágeis.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06050" y="600075"/>
            <a:ext cx="1276350" cy="3048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014662"/>
            <a:ext cx="3505200" cy="1724025"/>
          </a:xfrm>
          <a:prstGeom prst="roundRect">
            <a:avLst>
              <a:gd name="adj" fmla="val 662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3014662"/>
            <a:ext cx="3505200" cy="1724025"/>
          </a:xfrm>
          <a:prstGeom prst="roundRect">
            <a:avLst>
              <a:gd name="adj" fmla="val 662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3014662"/>
            <a:ext cx="3505200" cy="1724025"/>
          </a:xfrm>
          <a:prstGeom prst="roundRect">
            <a:avLst>
              <a:gd name="adj" fmla="val 662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075" y="3290887"/>
            <a:ext cx="47625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3290887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062" y="3290887"/>
            <a:ext cx="371475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8450" y="657225"/>
            <a:ext cx="1066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B6D4"/>
                </a:solidFill>
                <a:latin typeface="Plus Jakarta Sans"/>
              </a:rPr>
              <a:t>Sessão Prática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6179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B6D4"/>
                </a:solidFill>
                <a:latin typeface="Plus Jakarta Sans"/>
              </a:rPr>
              <a:t>06. DEMONSTRAÇÃO 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6750"/>
            <a:ext cx="648831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Hands On: Pipeline de Segurança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457" y="3824287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Plus Jakarta Sans"/>
              </a:rPr>
              <a:t>Docker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731" y="4119562"/>
            <a:ext cx="369093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Plus Jakarta Sans"/>
              </a:rPr>
              <a:t>Construção e otimização de imagens puras e execução segura.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8257" y="3824287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Plus Jakarta Sans"/>
              </a:rPr>
              <a:t>SonarQube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0531" y="4119562"/>
            <a:ext cx="369093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Plus Jakarta Sans"/>
              </a:rPr>
              <a:t>Análise de código e aplicação de Quality Gates em tempo real.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2057" y="3824287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Plus Jakarta Sans"/>
              </a:rPr>
              <a:t>GitHub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4331" y="4119562"/>
            <a:ext cx="369093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Plus Jakarta Sans"/>
              </a:rPr>
              <a:t>Orquestração do fluxo CI/CD automatizado e bloqueios.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591800" y="609600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314450"/>
            <a:ext cx="2600325" cy="508635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1314450"/>
            <a:ext cx="2600325" cy="508635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314450"/>
            <a:ext cx="2600325" cy="508635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82075" y="1314450"/>
            <a:ext cx="2600325" cy="508635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3293864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38550" y="3293864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29375" y="328910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220200" y="3387179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44200" y="66675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15 Minutos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5834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07. LABORATÓRIO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66750"/>
            <a:ext cx="612576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Passo a Passo do Lab </a:t>
            </a:r>
            <a:r>
              <a:rPr sz="2400" b="1" i="0" u="none" dirty="0" err="1">
                <a:solidFill>
                  <a:srgbClr val="0F172A"/>
                </a:solidFill>
                <a:latin typeface="Plus Jakarta Sans"/>
              </a:rPr>
              <a:t>Integrado</a:t>
            </a:r>
            <a:endParaRPr sz="2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7725" y="3674864"/>
            <a:ext cx="2219325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Clonar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o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projeto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Node.js de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exemplo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contendo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vulnerabilidades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propositadas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no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código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e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dependências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674864"/>
            <a:ext cx="2219325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Configurar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o token de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acesso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e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disparar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a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análise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estática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para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identificar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code smells e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falhas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críticas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670101"/>
            <a:ext cx="2219325" cy="7560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Criar o workflow em .github/workflows/sec.yml para automatizar o build e bloqueio de merge.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0200" y="3768179"/>
            <a:ext cx="2219325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Empacotar a aplicação aplicando hardening no Dockerfile e testar a imagem final segura.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3293864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9675" y="3322439"/>
            <a:ext cx="172521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 err="1">
                <a:solidFill>
                  <a:srgbClr val="0F172A"/>
                </a:solidFill>
                <a:latin typeface="Plus Jakarta Sans"/>
              </a:rPr>
              <a:t>Repositório</a:t>
            </a: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5675" y="3293864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0500" y="3322439"/>
            <a:ext cx="172521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SonarQube 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3289101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1325" y="3317676"/>
            <a:ext cx="155019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GitHub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7325" y="3387179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150" y="3415754"/>
            <a:ext cx="134016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Docker Build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3396A7-906C-49DD-B903-2273ED7E5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5845716-2FBA-8A98-B871-63D6520F32C2}"/>
              </a:ext>
            </a:extLst>
          </p:cNvPr>
          <p:cNvSpPr/>
          <p:nvPr/>
        </p:nvSpPr>
        <p:spPr>
          <a:xfrm>
            <a:off x="10591800" y="609600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7FB1436-FEEF-2AC7-85B7-D75CDF9F1B32}"/>
              </a:ext>
            </a:extLst>
          </p:cNvPr>
          <p:cNvSpPr/>
          <p:nvPr/>
        </p:nvSpPr>
        <p:spPr>
          <a:xfrm>
            <a:off x="609600" y="1314450"/>
            <a:ext cx="2600325" cy="508635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A1CF9C1-82E8-ACD6-E66B-484845AEA6A8}"/>
              </a:ext>
            </a:extLst>
          </p:cNvPr>
          <p:cNvSpPr/>
          <p:nvPr/>
        </p:nvSpPr>
        <p:spPr>
          <a:xfrm>
            <a:off x="847725" y="3293864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F1AE1B-057F-EBCF-8792-58C6D5788205}"/>
              </a:ext>
            </a:extLst>
          </p:cNvPr>
          <p:cNvSpPr txBox="1"/>
          <p:nvPr/>
        </p:nvSpPr>
        <p:spPr>
          <a:xfrm>
            <a:off x="10744200" y="66675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15 Minutos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7C3DD5-88B0-6A1C-0E3A-C3F60B783A43}"/>
              </a:ext>
            </a:extLst>
          </p:cNvPr>
          <p:cNvSpPr txBox="1"/>
          <p:nvPr/>
        </p:nvSpPr>
        <p:spPr>
          <a:xfrm>
            <a:off x="609600" y="457200"/>
            <a:ext cx="5834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07. LABORATÓRIO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1FCAB1-1610-8B51-FC32-CF7E48685564}"/>
              </a:ext>
            </a:extLst>
          </p:cNvPr>
          <p:cNvSpPr txBox="1"/>
          <p:nvPr/>
        </p:nvSpPr>
        <p:spPr>
          <a:xfrm>
            <a:off x="609600" y="666750"/>
            <a:ext cx="235372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PT" sz="2400" b="1" dirty="0">
                <a:solidFill>
                  <a:srgbClr val="0F172A"/>
                </a:solidFill>
                <a:latin typeface="Plus Jakarta Sans"/>
              </a:rPr>
              <a:t>Repositório - </a:t>
            </a:r>
            <a:r>
              <a:rPr lang="pt-PT" sz="2400" b="1" dirty="0" err="1">
                <a:solidFill>
                  <a:srgbClr val="0F172A"/>
                </a:solidFill>
                <a:latin typeface="Plus Jakarta Sans"/>
              </a:rPr>
              <a:t>Code</a:t>
            </a:r>
            <a:endParaRPr sz="2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42C8E4-DD09-9FBD-EC72-E059B6A8811F}"/>
              </a:ext>
            </a:extLst>
          </p:cNvPr>
          <p:cNvSpPr txBox="1"/>
          <p:nvPr/>
        </p:nvSpPr>
        <p:spPr>
          <a:xfrm>
            <a:off x="847725" y="3674864"/>
            <a:ext cx="2219325" cy="564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Clonar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o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projeto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pt-PT" sz="1050" dirty="0" err="1">
                <a:solidFill>
                  <a:srgbClr val="475569"/>
                </a:solidFill>
                <a:latin typeface="Plus Jakarta Sans"/>
              </a:rPr>
              <a:t>WebMoongy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exemplo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contendo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vulnerabilidades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propositadas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no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código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e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dependências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FB91DF-9FF9-057F-CBDF-B13315B4F038}"/>
              </a:ext>
            </a:extLst>
          </p:cNvPr>
          <p:cNvSpPr txBox="1"/>
          <p:nvPr/>
        </p:nvSpPr>
        <p:spPr>
          <a:xfrm>
            <a:off x="704850" y="3293864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5236B3-08F4-6DF0-C526-F02BE6BB5221}"/>
              </a:ext>
            </a:extLst>
          </p:cNvPr>
          <p:cNvSpPr txBox="1"/>
          <p:nvPr/>
        </p:nvSpPr>
        <p:spPr>
          <a:xfrm>
            <a:off x="1209675" y="3322439"/>
            <a:ext cx="172521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 err="1">
                <a:solidFill>
                  <a:srgbClr val="0F172A"/>
                </a:solidFill>
                <a:latin typeface="Plus Jakarta Sans"/>
              </a:rPr>
              <a:t>Repositório</a:t>
            </a: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 Base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1D26D46-CB61-4F3F-187C-9763066F572E}"/>
              </a:ext>
            </a:extLst>
          </p:cNvPr>
          <p:cNvSpPr txBox="1"/>
          <p:nvPr/>
        </p:nvSpPr>
        <p:spPr>
          <a:xfrm>
            <a:off x="4037161" y="1717957"/>
            <a:ext cx="701615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PT" sz="1600" dirty="0">
                <a:latin typeface="Plus Jakarta Sans"/>
              </a:rPr>
              <a:t>Exemplo de uma aplicação .Net10 (core) que contém intencionalmente várias vulnerabilidades de segurança comuns (OWASP Top 10), com o </a:t>
            </a:r>
            <a:r>
              <a:rPr lang="pt-PT" sz="1600" dirty="0" err="1">
                <a:latin typeface="Plus Jakarta Sans"/>
              </a:rPr>
              <a:t>objectivo</a:t>
            </a:r>
            <a:r>
              <a:rPr lang="pt-PT" sz="1600" dirty="0">
                <a:latin typeface="Plus Jakarta Sans"/>
              </a:rPr>
              <a:t> de demonstração:</a:t>
            </a:r>
          </a:p>
          <a:p>
            <a:pPr algn="just">
              <a:buNone/>
            </a:pPr>
            <a:r>
              <a:rPr lang="pt-PT" sz="1600" dirty="0">
                <a:latin typeface="Plus Jakarta Sans"/>
              </a:rPr>
              <a:t>	</a:t>
            </a:r>
          </a:p>
          <a:p>
            <a:pPr algn="just">
              <a:buNone/>
            </a:pPr>
            <a:r>
              <a:rPr lang="pt-PT" sz="1600" dirty="0">
                <a:latin typeface="Plus Jakarta Sans"/>
              </a:rPr>
              <a:t>	Testes com ferramentas de SAST (como o </a:t>
            </a:r>
            <a:r>
              <a:rPr lang="pt-PT" sz="1600" dirty="0" err="1">
                <a:latin typeface="Plus Jakarta Sans"/>
              </a:rPr>
              <a:t>SonarQube</a:t>
            </a:r>
            <a:r>
              <a:rPr lang="pt-PT" sz="1600" dirty="0">
                <a:latin typeface="Plus Jakarta Sans"/>
              </a:rPr>
              <a:t>)</a:t>
            </a:r>
          </a:p>
          <a:p>
            <a:pPr algn="just">
              <a:buNone/>
            </a:pPr>
            <a:r>
              <a:rPr lang="pt-PT" sz="1600" dirty="0">
                <a:latin typeface="Plus Jakarta Sans"/>
              </a:rPr>
              <a:t>	Análise com scanners de contentores.</a:t>
            </a:r>
          </a:p>
          <a:p>
            <a:pPr algn="just">
              <a:buNone/>
            </a:pPr>
            <a:endParaRPr lang="pt-PT" sz="1600" b="1" dirty="0">
              <a:latin typeface="Plus Jakarta Sans"/>
            </a:endParaRPr>
          </a:p>
          <a:p>
            <a:pPr algn="just">
              <a:buNone/>
            </a:pPr>
            <a:endParaRPr lang="pt-PT" sz="1600" b="1" dirty="0">
              <a:latin typeface="Plus Jakarta Sans"/>
            </a:endParaRPr>
          </a:p>
          <a:p>
            <a:pPr algn="just">
              <a:buNone/>
            </a:pPr>
            <a:r>
              <a:rPr lang="pt-PT" sz="1600" b="1" dirty="0">
                <a:latin typeface="Plus Jakarta Sans"/>
              </a:rPr>
              <a:t>⚠️ Aviso de Segurança</a:t>
            </a:r>
          </a:p>
          <a:p>
            <a:pPr algn="just">
              <a:buNone/>
            </a:pPr>
            <a:r>
              <a:rPr lang="pt-PT" sz="1600" b="1" dirty="0">
                <a:latin typeface="Plus Jakarta Sans"/>
              </a:rPr>
              <a:t>Nunca</a:t>
            </a:r>
            <a:r>
              <a:rPr lang="pt-PT" sz="1600" dirty="0">
                <a:latin typeface="Plus Jakarta Sans"/>
              </a:rPr>
              <a:t> utilize este código em ambientes de produção. Ele contém falhas críticas para efeitos puramente educativos e de testes de laboratório.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76C1BFC-83B0-0788-9C7A-45CDA99D02DF}"/>
              </a:ext>
            </a:extLst>
          </p:cNvPr>
          <p:cNvSpPr txBox="1"/>
          <p:nvPr/>
        </p:nvSpPr>
        <p:spPr>
          <a:xfrm>
            <a:off x="5262112" y="502230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 err="1">
                <a:latin typeface="Plus Jakarta Sans"/>
              </a:rPr>
              <a:t>beaexpertlda</a:t>
            </a:r>
            <a:r>
              <a:rPr lang="pt-PT" dirty="0">
                <a:latin typeface="Plus Jakarta Sans"/>
              </a:rPr>
              <a:t>/</a:t>
            </a:r>
            <a:r>
              <a:rPr lang="pt-PT" sz="2400" dirty="0" err="1">
                <a:latin typeface="Plus Jakarta Sans"/>
              </a:rPr>
              <a:t>WebMoongy</a:t>
            </a:r>
            <a:endParaRPr lang="pt-PT" sz="2400" dirty="0"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319210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A8E4CC-1463-B864-F90D-F25F13F4B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C503FE1-F026-AE52-0666-6EB46DFFD36B}"/>
              </a:ext>
            </a:extLst>
          </p:cNvPr>
          <p:cNvSpPr/>
          <p:nvPr/>
        </p:nvSpPr>
        <p:spPr>
          <a:xfrm>
            <a:off x="10591800" y="609600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45451B4-643D-FA6F-AFDC-772A446D44FC}"/>
              </a:ext>
            </a:extLst>
          </p:cNvPr>
          <p:cNvSpPr/>
          <p:nvPr/>
        </p:nvSpPr>
        <p:spPr>
          <a:xfrm>
            <a:off x="609600" y="1199431"/>
            <a:ext cx="2600325" cy="508635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573119F-CF30-110B-448B-58FA4A46BD5B}"/>
              </a:ext>
            </a:extLst>
          </p:cNvPr>
          <p:cNvSpPr/>
          <p:nvPr/>
        </p:nvSpPr>
        <p:spPr>
          <a:xfrm>
            <a:off x="841974" y="317884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795D6C-E752-6047-9B8A-B9B567947CE9}"/>
              </a:ext>
            </a:extLst>
          </p:cNvPr>
          <p:cNvSpPr txBox="1"/>
          <p:nvPr/>
        </p:nvSpPr>
        <p:spPr>
          <a:xfrm>
            <a:off x="10744200" y="66675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15 Minutos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8D3E47-21D9-1C40-78C8-606213890F17}"/>
              </a:ext>
            </a:extLst>
          </p:cNvPr>
          <p:cNvSpPr txBox="1"/>
          <p:nvPr/>
        </p:nvSpPr>
        <p:spPr>
          <a:xfrm>
            <a:off x="609600" y="457200"/>
            <a:ext cx="5834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07. LABORATÓRIO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5C1864-90F0-7EAF-D4A8-0A8C3A8FC29F}"/>
              </a:ext>
            </a:extLst>
          </p:cNvPr>
          <p:cNvSpPr txBox="1"/>
          <p:nvPr/>
        </p:nvSpPr>
        <p:spPr>
          <a:xfrm>
            <a:off x="609600" y="666750"/>
            <a:ext cx="143468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PT" sz="2400" b="1" i="0" u="none" dirty="0" err="1">
                <a:solidFill>
                  <a:srgbClr val="0F172A"/>
                </a:solidFill>
                <a:latin typeface="Plus Jakarta Sans"/>
              </a:rPr>
              <a:t>SonarQube</a:t>
            </a:r>
            <a:endParaRPr sz="2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70CBD4-EEF2-A757-BC8F-C4BC5800DC1E}"/>
              </a:ext>
            </a:extLst>
          </p:cNvPr>
          <p:cNvSpPr txBox="1"/>
          <p:nvPr/>
        </p:nvSpPr>
        <p:spPr>
          <a:xfrm>
            <a:off x="841974" y="3559845"/>
            <a:ext cx="2219325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Configurar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o token de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acesso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e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disparar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a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análise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estática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para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identificar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code smells e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falhas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críticas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32FDFE-B190-F90F-E6D0-A4059F904123}"/>
              </a:ext>
            </a:extLst>
          </p:cNvPr>
          <p:cNvSpPr txBox="1"/>
          <p:nvPr/>
        </p:nvSpPr>
        <p:spPr>
          <a:xfrm>
            <a:off x="699099" y="3178845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4925F5-E832-C891-0B41-C75911B4A032}"/>
              </a:ext>
            </a:extLst>
          </p:cNvPr>
          <p:cNvSpPr txBox="1"/>
          <p:nvPr/>
        </p:nvSpPr>
        <p:spPr>
          <a:xfrm>
            <a:off x="1203924" y="3207420"/>
            <a:ext cx="172521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SonarQube Scan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894AABB-F1AA-78BC-D518-5DC654619E21}"/>
              </a:ext>
            </a:extLst>
          </p:cNvPr>
          <p:cNvSpPr txBox="1"/>
          <p:nvPr/>
        </p:nvSpPr>
        <p:spPr>
          <a:xfrm>
            <a:off x="4750278" y="4892954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PT" sz="1200" b="1" dirty="0"/>
              <a:t>Nota importante para o GitHub </a:t>
            </a:r>
            <a:r>
              <a:rPr lang="pt-PT" sz="1200" b="1" dirty="0" err="1"/>
              <a:t>Actions</a:t>
            </a:r>
            <a:r>
              <a:rPr lang="pt-PT" sz="1200" b="1" dirty="0"/>
              <a:t>:</a:t>
            </a:r>
            <a:r>
              <a:rPr lang="pt-PT" sz="1200" dirty="0"/>
              <a:t> Deve ir às definições do seu repositório GitHub em </a:t>
            </a:r>
            <a:r>
              <a:rPr lang="pt-PT" sz="1200" i="1" dirty="0" err="1"/>
              <a:t>Settings</a:t>
            </a:r>
            <a:r>
              <a:rPr lang="pt-PT" sz="1200" i="1" dirty="0"/>
              <a:t> &gt; </a:t>
            </a:r>
            <a:r>
              <a:rPr lang="pt-PT" sz="1200" i="1" dirty="0" err="1"/>
              <a:t>Secrets</a:t>
            </a:r>
            <a:r>
              <a:rPr lang="pt-PT" sz="1200" i="1" dirty="0"/>
              <a:t> </a:t>
            </a:r>
            <a:r>
              <a:rPr lang="pt-PT" sz="1200" i="1" dirty="0" err="1"/>
              <a:t>and</a:t>
            </a:r>
            <a:r>
              <a:rPr lang="pt-PT" sz="1200" i="1" dirty="0"/>
              <a:t> </a:t>
            </a:r>
            <a:r>
              <a:rPr lang="pt-PT" sz="1200" i="1" dirty="0" err="1"/>
              <a:t>variables</a:t>
            </a:r>
            <a:r>
              <a:rPr lang="pt-PT" sz="1200" i="1" dirty="0"/>
              <a:t> &gt; </a:t>
            </a:r>
            <a:r>
              <a:rPr lang="pt-PT" sz="1200" i="1" dirty="0" err="1"/>
              <a:t>Actions</a:t>
            </a:r>
            <a:r>
              <a:rPr lang="pt-PT" sz="1200" dirty="0"/>
              <a:t> e criar duas variáveis secretas: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PT" sz="1200" dirty="0">
                <a:latin typeface="+mn-lt"/>
              </a:rPr>
              <a:t>SONAR_HOST_URL</a:t>
            </a:r>
            <a:r>
              <a:rPr lang="pt-PT" sz="1200" dirty="0"/>
              <a:t>: O endereço do seu servidor </a:t>
            </a:r>
            <a:r>
              <a:rPr lang="pt-PT" sz="1200" dirty="0" err="1"/>
              <a:t>SonarQube</a:t>
            </a:r>
            <a:r>
              <a:rPr lang="pt-PT" sz="1200" dirty="0"/>
              <a:t> (</a:t>
            </a:r>
            <a:r>
              <a:rPr lang="pt-PT" sz="1200" dirty="0" err="1"/>
              <a:t>ex</a:t>
            </a:r>
            <a:r>
              <a:rPr lang="pt-PT" sz="1200" dirty="0"/>
              <a:t>: </a:t>
            </a:r>
            <a:r>
              <a:rPr lang="pt-PT" sz="1200" dirty="0">
                <a:latin typeface="+mn-lt"/>
              </a:rPr>
              <a:t>[https://sonarqube.empresa.pt](https://sonarqube.empresa.pt)</a:t>
            </a:r>
            <a:r>
              <a:rPr lang="pt-PT" sz="1200" dirty="0"/>
              <a:t> ou o IP/URL acessível).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PT" sz="1200" dirty="0">
                <a:latin typeface="+mn-lt"/>
              </a:rPr>
              <a:t>SONAR_TOKEN</a:t>
            </a:r>
            <a:r>
              <a:rPr lang="pt-PT" sz="1200" dirty="0"/>
              <a:t>: O </a:t>
            </a:r>
            <a:r>
              <a:rPr lang="pt-PT" sz="1200" dirty="0" err="1"/>
              <a:t>token</a:t>
            </a:r>
            <a:r>
              <a:rPr lang="pt-PT" sz="1200" dirty="0"/>
              <a:t> que gerou no Passo 1.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2269E3A-E829-1858-4084-A81A0841E222}"/>
              </a:ext>
            </a:extLst>
          </p:cNvPr>
          <p:cNvSpPr txBox="1"/>
          <p:nvPr/>
        </p:nvSpPr>
        <p:spPr>
          <a:xfrm>
            <a:off x="4002656" y="1377697"/>
            <a:ext cx="698541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PT" sz="1600" dirty="0">
                <a:latin typeface="Plus Jakarta Sans"/>
              </a:rPr>
              <a:t>O motor do </a:t>
            </a:r>
            <a:r>
              <a:rPr lang="pt-PT" sz="1600" dirty="0" err="1">
                <a:latin typeface="Plus Jakarta Sans"/>
              </a:rPr>
              <a:t>SonarCloud</a:t>
            </a:r>
            <a:r>
              <a:rPr lang="pt-PT" sz="1600" dirty="0">
                <a:latin typeface="Plus Jakarta Sans"/>
              </a:rPr>
              <a:t> vai ler o código e detetar instantaneamente as falhas críticas que inserimos (como a injeção SQL, o uso de segredos em </a:t>
            </a:r>
            <a:r>
              <a:rPr lang="pt-PT" sz="1600" dirty="0" err="1">
                <a:latin typeface="Plus Jakarta Sans"/>
              </a:rPr>
              <a:t>hardcode</a:t>
            </a:r>
            <a:r>
              <a:rPr lang="pt-PT" sz="1600" dirty="0">
                <a:latin typeface="Plus Jakarta Sans"/>
              </a:rPr>
              <a:t> e o </a:t>
            </a:r>
            <a:r>
              <a:rPr lang="pt-PT" sz="1600" dirty="0" err="1">
                <a:latin typeface="Plus Jakarta Sans"/>
              </a:rPr>
              <a:t>command</a:t>
            </a:r>
            <a:r>
              <a:rPr lang="pt-PT" sz="1600" dirty="0">
                <a:latin typeface="Plus Jakarta Sans"/>
              </a:rPr>
              <a:t> </a:t>
            </a:r>
            <a:r>
              <a:rPr lang="pt-PT" sz="1600" dirty="0" err="1">
                <a:latin typeface="Plus Jakarta Sans"/>
              </a:rPr>
              <a:t>injection</a:t>
            </a:r>
            <a:r>
              <a:rPr lang="pt-PT" sz="1600" dirty="0">
                <a:latin typeface="Plus Jakarta Sans"/>
              </a:rPr>
              <a:t>).</a:t>
            </a:r>
          </a:p>
          <a:p>
            <a:pPr lvl="0"/>
            <a:endParaRPr lang="pt-PT" sz="1600" dirty="0">
              <a:latin typeface="Plus Jakarta Sans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PT" sz="1600" dirty="0">
                <a:latin typeface="Plus Jakarta Sans"/>
              </a:rPr>
              <a:t>O painel do </a:t>
            </a:r>
            <a:r>
              <a:rPr lang="pt-PT" sz="1600" dirty="0" err="1">
                <a:latin typeface="Plus Jakarta Sans"/>
              </a:rPr>
              <a:t>SonarCloudvai</a:t>
            </a:r>
            <a:r>
              <a:rPr lang="pt-PT" sz="1600" dirty="0">
                <a:latin typeface="Plus Jakarta Sans"/>
              </a:rPr>
              <a:t> categorizá-las em </a:t>
            </a:r>
            <a:r>
              <a:rPr lang="pt-PT" sz="1600" b="1" dirty="0">
                <a:latin typeface="Plus Jakarta Sans"/>
              </a:rPr>
              <a:t>Vulnerabilidades</a:t>
            </a:r>
            <a:r>
              <a:rPr lang="pt-PT" sz="1600" dirty="0">
                <a:latin typeface="Plus Jakarta Sans"/>
              </a:rPr>
              <a:t> (problemas de segurança graves), </a:t>
            </a:r>
            <a:r>
              <a:rPr lang="pt-PT" sz="1600" b="1" dirty="0" err="1">
                <a:latin typeface="Plus Jakarta Sans"/>
              </a:rPr>
              <a:t>Code</a:t>
            </a:r>
            <a:r>
              <a:rPr lang="pt-PT" sz="1600" b="1" dirty="0">
                <a:latin typeface="Plus Jakarta Sans"/>
              </a:rPr>
              <a:t> </a:t>
            </a:r>
            <a:r>
              <a:rPr lang="pt-PT" sz="1600" b="1" dirty="0" err="1">
                <a:latin typeface="Plus Jakarta Sans"/>
              </a:rPr>
              <a:t>Smells</a:t>
            </a:r>
            <a:r>
              <a:rPr lang="pt-PT" sz="1600" dirty="0">
                <a:latin typeface="Plus Jakarta Sans"/>
              </a:rPr>
              <a:t> (má qualidade de código) e </a:t>
            </a:r>
            <a:r>
              <a:rPr lang="pt-PT" sz="1600" b="1" dirty="0" err="1">
                <a:latin typeface="Plus Jakarta Sans"/>
              </a:rPr>
              <a:t>Security</a:t>
            </a:r>
            <a:r>
              <a:rPr lang="pt-PT" sz="1600" b="1" dirty="0">
                <a:latin typeface="Plus Jakarta Sans"/>
              </a:rPr>
              <a:t> Hotspots</a:t>
            </a:r>
            <a:r>
              <a:rPr lang="pt-PT" sz="1600" dirty="0">
                <a:latin typeface="Plus Jakarta Sans"/>
              </a:rPr>
              <a:t> (pontos que exigem revisão humana).</a:t>
            </a:r>
          </a:p>
          <a:p>
            <a:pPr lvl="0"/>
            <a:endParaRPr lang="pt-PT" sz="1600" dirty="0">
              <a:latin typeface="Plus Jakarta Sans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PT" sz="1600" dirty="0">
                <a:latin typeface="Plus Jakarta Sans"/>
              </a:rPr>
              <a:t>Se tiver configurado um </a:t>
            </a:r>
            <a:r>
              <a:rPr lang="pt-PT" sz="1600" b="1" dirty="0" err="1">
                <a:latin typeface="Plus Jakarta Sans"/>
              </a:rPr>
              <a:t>Quality</a:t>
            </a:r>
            <a:r>
              <a:rPr lang="pt-PT" sz="1600" b="1" dirty="0">
                <a:latin typeface="Plus Jakarta Sans"/>
              </a:rPr>
              <a:t> Gate</a:t>
            </a:r>
            <a:r>
              <a:rPr lang="pt-PT" sz="1600" dirty="0">
                <a:latin typeface="Plus Jakarta Sans"/>
              </a:rPr>
              <a:t> estrito, o pipeline será automaticamente bloqueado caso o código não cumpra os critérios mínimos de segurança.</a:t>
            </a:r>
          </a:p>
        </p:txBody>
      </p:sp>
    </p:spTree>
    <p:extLst>
      <p:ext uri="{BB962C8B-B14F-4D97-AF65-F5344CB8AC3E}">
        <p14:creationId xmlns:p14="http://schemas.microsoft.com/office/powerpoint/2010/main" val="2812470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1632C7-7836-0280-565E-5E2EA1DA1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8668B76-B0AE-C9F9-5B9B-F6BBC5C14009}"/>
              </a:ext>
            </a:extLst>
          </p:cNvPr>
          <p:cNvSpPr/>
          <p:nvPr/>
        </p:nvSpPr>
        <p:spPr>
          <a:xfrm>
            <a:off x="10591800" y="609600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F8082B-2F1E-9994-7570-3F1469566764}"/>
              </a:ext>
            </a:extLst>
          </p:cNvPr>
          <p:cNvSpPr/>
          <p:nvPr/>
        </p:nvSpPr>
        <p:spPr>
          <a:xfrm>
            <a:off x="635862" y="1274193"/>
            <a:ext cx="2600325" cy="508635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5EF7CFD-8AA9-D8AA-7D17-263032D489BB}"/>
              </a:ext>
            </a:extLst>
          </p:cNvPr>
          <p:cNvSpPr/>
          <p:nvPr/>
        </p:nvSpPr>
        <p:spPr>
          <a:xfrm>
            <a:off x="873987" y="3248844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61D4B-9323-69CA-2398-AE8307544B80}"/>
              </a:ext>
            </a:extLst>
          </p:cNvPr>
          <p:cNvSpPr txBox="1"/>
          <p:nvPr/>
        </p:nvSpPr>
        <p:spPr>
          <a:xfrm>
            <a:off x="10744200" y="66675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15 Minutos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973BEB-E0D9-334F-76E9-AE282A5FF7BD}"/>
              </a:ext>
            </a:extLst>
          </p:cNvPr>
          <p:cNvSpPr txBox="1"/>
          <p:nvPr/>
        </p:nvSpPr>
        <p:spPr>
          <a:xfrm>
            <a:off x="609600" y="457200"/>
            <a:ext cx="5834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07. LABORATÓRIO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482088-97C8-A70A-A459-63512E565A0B}"/>
              </a:ext>
            </a:extLst>
          </p:cNvPr>
          <p:cNvSpPr txBox="1"/>
          <p:nvPr/>
        </p:nvSpPr>
        <p:spPr>
          <a:xfrm>
            <a:off x="609600" y="666750"/>
            <a:ext cx="200215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PT" sz="2400" b="1" dirty="0">
                <a:solidFill>
                  <a:srgbClr val="0F172A"/>
                </a:solidFill>
                <a:latin typeface="Plus Jakarta Sans"/>
              </a:rPr>
              <a:t>Pipeline GitHub</a:t>
            </a:r>
            <a:endParaRPr sz="2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877802-307B-C6C0-315D-7C9D997F4908}"/>
              </a:ext>
            </a:extLst>
          </p:cNvPr>
          <p:cNvSpPr txBox="1"/>
          <p:nvPr/>
        </p:nvSpPr>
        <p:spPr>
          <a:xfrm>
            <a:off x="873987" y="3629844"/>
            <a:ext cx="2219325" cy="7560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Criar o workflow em .github/workflows/sec.yml para automatizar o build e bloqueio de merge.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E9F7A7-92F2-2025-A4A4-B54730EAB091}"/>
              </a:ext>
            </a:extLst>
          </p:cNvPr>
          <p:cNvSpPr txBox="1"/>
          <p:nvPr/>
        </p:nvSpPr>
        <p:spPr>
          <a:xfrm>
            <a:off x="731112" y="3248844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AEEE67-2D80-39F9-0519-BB8F3D78FA4B}"/>
              </a:ext>
            </a:extLst>
          </p:cNvPr>
          <p:cNvSpPr txBox="1"/>
          <p:nvPr/>
        </p:nvSpPr>
        <p:spPr>
          <a:xfrm>
            <a:off x="1235937" y="3277419"/>
            <a:ext cx="155019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GitHub Actions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3B26E1-28D4-CCC4-6E3E-00BEFD57B679}"/>
              </a:ext>
            </a:extLst>
          </p:cNvPr>
          <p:cNvSpPr txBox="1"/>
          <p:nvPr/>
        </p:nvSpPr>
        <p:spPr>
          <a:xfrm>
            <a:off x="9077325" y="3387179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38990CD4-F676-5B1C-4DCE-932A86EC0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252" y="1543937"/>
            <a:ext cx="2600325" cy="3554573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6214060A-A544-1BDC-1B64-017A89C5F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915" y="2809773"/>
            <a:ext cx="2590819" cy="275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082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0BB20-FA9A-2762-B530-F3B953BF0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5D11AAC-7374-A1A6-0432-48BD968AAFCF}"/>
              </a:ext>
            </a:extLst>
          </p:cNvPr>
          <p:cNvSpPr/>
          <p:nvPr/>
        </p:nvSpPr>
        <p:spPr>
          <a:xfrm>
            <a:off x="10591800" y="609600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760D9F5-7F95-B505-B556-B402A90BB4B4}"/>
              </a:ext>
            </a:extLst>
          </p:cNvPr>
          <p:cNvSpPr/>
          <p:nvPr/>
        </p:nvSpPr>
        <p:spPr>
          <a:xfrm>
            <a:off x="609600" y="1225004"/>
            <a:ext cx="2600325" cy="508635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DC115A9-BDCC-7C6B-90E1-6BA72D2760C3}"/>
              </a:ext>
            </a:extLst>
          </p:cNvPr>
          <p:cNvSpPr/>
          <p:nvPr/>
        </p:nvSpPr>
        <p:spPr>
          <a:xfrm>
            <a:off x="847725" y="3297733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8A7AEF-679F-5E95-83EF-9BA34A38DB54}"/>
              </a:ext>
            </a:extLst>
          </p:cNvPr>
          <p:cNvSpPr txBox="1"/>
          <p:nvPr/>
        </p:nvSpPr>
        <p:spPr>
          <a:xfrm>
            <a:off x="10744200" y="66675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15 Minutos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6ACBC1-28B0-F0A1-7752-A1AA91B6780C}"/>
              </a:ext>
            </a:extLst>
          </p:cNvPr>
          <p:cNvSpPr txBox="1"/>
          <p:nvPr/>
        </p:nvSpPr>
        <p:spPr>
          <a:xfrm>
            <a:off x="609600" y="457200"/>
            <a:ext cx="5834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Plus Jakarta Sans"/>
              </a:rPr>
              <a:t>07. LABORATÓRIO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178705-669E-93EC-8B3C-9A5EF4EA456E}"/>
              </a:ext>
            </a:extLst>
          </p:cNvPr>
          <p:cNvSpPr txBox="1"/>
          <p:nvPr/>
        </p:nvSpPr>
        <p:spPr>
          <a:xfrm>
            <a:off x="609600" y="666750"/>
            <a:ext cx="371896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PT" sz="2400" b="1" dirty="0">
                <a:solidFill>
                  <a:srgbClr val="0F172A"/>
                </a:solidFill>
                <a:latin typeface="Plus Jakarta Sans"/>
              </a:rPr>
              <a:t>Docker </a:t>
            </a:r>
            <a:r>
              <a:rPr lang="pt-PT" sz="2400" b="1" dirty="0" err="1">
                <a:solidFill>
                  <a:srgbClr val="0F172A"/>
                </a:solidFill>
                <a:latin typeface="Plus Jakarta Sans"/>
              </a:rPr>
              <a:t>image</a:t>
            </a:r>
            <a:r>
              <a:rPr lang="pt-PT" sz="2400" b="1" dirty="0">
                <a:solidFill>
                  <a:srgbClr val="0F172A"/>
                </a:solidFill>
                <a:latin typeface="Plus Jakarta Sans"/>
              </a:rPr>
              <a:t> – K8S, </a:t>
            </a:r>
            <a:r>
              <a:rPr lang="pt-PT" sz="2400" b="1" dirty="0" err="1">
                <a:solidFill>
                  <a:srgbClr val="0F172A"/>
                </a:solidFill>
                <a:latin typeface="Plus Jakarta Sans"/>
              </a:rPr>
              <a:t>Podman</a:t>
            </a:r>
            <a:endParaRPr sz="2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E17CB2-4D25-ABA1-DDFF-4BF5B49E7CFD}"/>
              </a:ext>
            </a:extLst>
          </p:cNvPr>
          <p:cNvSpPr txBox="1"/>
          <p:nvPr/>
        </p:nvSpPr>
        <p:spPr>
          <a:xfrm>
            <a:off x="847725" y="3678733"/>
            <a:ext cx="2219325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Empacotar a aplicação aplicando hardening no Dockerfile e testar a imagem final segura.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F1AA5E-9D75-3D5B-7066-B6C71C92B1C7}"/>
              </a:ext>
            </a:extLst>
          </p:cNvPr>
          <p:cNvSpPr txBox="1"/>
          <p:nvPr/>
        </p:nvSpPr>
        <p:spPr>
          <a:xfrm>
            <a:off x="704850" y="3297733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D52E53-ADE0-5695-7E5F-60CFBEAB0955}"/>
              </a:ext>
            </a:extLst>
          </p:cNvPr>
          <p:cNvSpPr txBox="1"/>
          <p:nvPr/>
        </p:nvSpPr>
        <p:spPr>
          <a:xfrm>
            <a:off x="1209675" y="3326308"/>
            <a:ext cx="134016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Docker Build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E025404-AC85-C69C-E37C-58A49202CF98}"/>
              </a:ext>
            </a:extLst>
          </p:cNvPr>
          <p:cNvSpPr txBox="1"/>
          <p:nvPr/>
        </p:nvSpPr>
        <p:spPr>
          <a:xfrm>
            <a:off x="4018015" y="1785907"/>
            <a:ext cx="681676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PT" sz="1600" b="1" dirty="0">
                <a:latin typeface="Plus Jakarta Sans"/>
              </a:rPr>
              <a:t>Principais Melhorias de Segurança: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PT" sz="1600" b="1" dirty="0">
                <a:latin typeface="Plus Jakarta Sans"/>
              </a:rPr>
              <a:t>Utilizador sem Privilégios (</a:t>
            </a:r>
            <a:r>
              <a:rPr lang="pt-PT" sz="1600" b="1" i="1" dirty="0">
                <a:latin typeface="Plus Jakarta Sans"/>
              </a:rPr>
              <a:t>Non-</a:t>
            </a:r>
            <a:r>
              <a:rPr lang="pt-PT" sz="1600" b="1" i="1" dirty="0" err="1">
                <a:latin typeface="Plus Jakarta Sans"/>
              </a:rPr>
              <a:t>Root</a:t>
            </a:r>
            <a:r>
              <a:rPr lang="pt-PT" sz="1600" b="1" i="1" dirty="0">
                <a:latin typeface="Plus Jakarta Sans"/>
              </a:rPr>
              <a:t> </a:t>
            </a:r>
            <a:r>
              <a:rPr lang="pt-PT" sz="1600" b="1" i="1" dirty="0" err="1">
                <a:latin typeface="Plus Jakarta Sans"/>
              </a:rPr>
              <a:t>User</a:t>
            </a:r>
            <a:r>
              <a:rPr lang="pt-PT" sz="1600" b="1" dirty="0">
                <a:latin typeface="Plus Jakarta Sans"/>
              </a:rPr>
              <a:t>):</a:t>
            </a:r>
            <a:r>
              <a:rPr lang="pt-PT" sz="1600" dirty="0">
                <a:latin typeface="Plus Jakarta Sans"/>
              </a:rPr>
              <a:t> Adição do utilizador </a:t>
            </a:r>
            <a:r>
              <a:rPr lang="pt-PT" sz="1600" dirty="0" err="1">
                <a:latin typeface="Plus Jakarta Sans"/>
              </a:rPr>
              <a:t>appuser</a:t>
            </a:r>
            <a:r>
              <a:rPr lang="pt-PT" sz="1600" dirty="0">
                <a:latin typeface="Plus Jakarta Sans"/>
              </a:rPr>
              <a:t> (UID 1000) para executar a aplicação em vez do utilizador </a:t>
            </a:r>
            <a:r>
              <a:rPr lang="pt-PT" sz="1600" i="1" dirty="0" err="1">
                <a:latin typeface="Plus Jakarta Sans"/>
              </a:rPr>
              <a:t>root</a:t>
            </a:r>
            <a:r>
              <a:rPr lang="pt-PT" sz="1600" dirty="0">
                <a:latin typeface="Plus Jakarta Sans"/>
              </a:rPr>
              <a:t> predefinido, prevenindo a escalada de privilégios caso a aplicação seja comprometida.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PT" sz="1600" b="1" dirty="0">
                <a:latin typeface="Plus Jakarta Sans"/>
              </a:rPr>
              <a:t>Separação da Imagem de </a:t>
            </a:r>
            <a:r>
              <a:rPr lang="pt-PT" sz="1600" b="1" i="1" dirty="0" err="1">
                <a:latin typeface="Plus Jakarta Sans"/>
              </a:rPr>
              <a:t>Runtime</a:t>
            </a:r>
            <a:r>
              <a:rPr lang="pt-PT" sz="1600" b="1" dirty="0">
                <a:latin typeface="Plus Jakarta Sans"/>
              </a:rPr>
              <a:t>:</a:t>
            </a:r>
            <a:r>
              <a:rPr lang="pt-PT" sz="1600" dirty="0">
                <a:latin typeface="Plus Jakarta Sans"/>
              </a:rPr>
              <a:t> Alteração da imagem base no estágio final para a imagem de </a:t>
            </a:r>
            <a:r>
              <a:rPr lang="pt-PT" sz="1600" i="1" dirty="0" err="1">
                <a:latin typeface="Plus Jakarta Sans"/>
              </a:rPr>
              <a:t>runtime</a:t>
            </a:r>
            <a:r>
              <a:rPr lang="pt-PT" sz="1600" dirty="0">
                <a:latin typeface="Plus Jakarta Sans"/>
              </a:rPr>
              <a:t> do ASP.NET (</a:t>
            </a:r>
            <a:r>
              <a:rPr lang="pt-PT" sz="1600" dirty="0" err="1">
                <a:latin typeface="Plus Jakarta Sans"/>
              </a:rPr>
              <a:t>dotnet</a:t>
            </a:r>
            <a:r>
              <a:rPr lang="pt-PT" sz="1600" dirty="0">
                <a:latin typeface="Plus Jakarta Sans"/>
              </a:rPr>
              <a:t>/aspnet:10.0), que é mais leve, em vez de manter o contentor do SDK.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PT" sz="1600" b="1" dirty="0">
                <a:latin typeface="Plus Jakarta Sans"/>
              </a:rPr>
              <a:t>Propriedade dos Ficheiros:</a:t>
            </a:r>
            <a:r>
              <a:rPr lang="pt-PT" sz="1600" dirty="0">
                <a:latin typeface="Plus Jakarta Sans"/>
              </a:rPr>
              <a:t> Definição explícita do proprietário da diretoria /app para o novo utilizador, garantindo os limites corretos de permissões de leitura e escrita.</a:t>
            </a:r>
          </a:p>
          <a:p>
            <a:pPr lvl="0"/>
            <a:endParaRPr lang="pt-PT" sz="1600" dirty="0">
              <a:latin typeface="Plus Jakarta Sans"/>
            </a:endParaRPr>
          </a:p>
          <a:p>
            <a:pPr>
              <a:buNone/>
            </a:pPr>
            <a:r>
              <a:rPr lang="pt-PT" sz="1600" b="1" dirty="0">
                <a:latin typeface="Plus Jakarta Sans"/>
              </a:rPr>
              <a:t>Passo de Verificação:</a:t>
            </a:r>
            <a:r>
              <a:rPr lang="pt-PT" sz="1600" dirty="0">
                <a:latin typeface="Plus Jakarta Sans"/>
              </a:rPr>
              <a:t> Execute o comando </a:t>
            </a:r>
            <a:r>
              <a:rPr lang="pt-PT" sz="1600" dirty="0" err="1">
                <a:latin typeface="Plus Jakarta Sans"/>
              </a:rPr>
              <a:t>docker</a:t>
            </a:r>
            <a:r>
              <a:rPr lang="pt-PT" sz="1600" dirty="0">
                <a:latin typeface="Plus Jakarta Sans"/>
              </a:rPr>
              <a:t> </a:t>
            </a:r>
            <a:r>
              <a:rPr lang="pt-PT" sz="1600" dirty="0" err="1">
                <a:latin typeface="Plus Jakarta Sans"/>
              </a:rPr>
              <a:t>run</a:t>
            </a:r>
            <a:r>
              <a:rPr lang="pt-PT" sz="1600" dirty="0">
                <a:latin typeface="Plus Jakarta Sans"/>
              </a:rPr>
              <a:t> --</a:t>
            </a:r>
            <a:r>
              <a:rPr lang="pt-PT" sz="1600" dirty="0" err="1">
                <a:latin typeface="Plus Jakarta Sans"/>
              </a:rPr>
              <a:t>rm</a:t>
            </a:r>
            <a:r>
              <a:rPr lang="pt-PT" sz="1600" dirty="0">
                <a:latin typeface="Plus Jakarta Sans"/>
              </a:rPr>
              <a:t> --</a:t>
            </a:r>
            <a:r>
              <a:rPr lang="pt-PT" sz="1600" dirty="0" err="1">
                <a:latin typeface="Plus Jakarta Sans"/>
              </a:rPr>
              <a:t>entrypoint</a:t>
            </a:r>
            <a:r>
              <a:rPr lang="pt-PT" sz="1600" dirty="0">
                <a:latin typeface="Plus Jakarta Sans"/>
              </a:rPr>
              <a:t> </a:t>
            </a:r>
            <a:r>
              <a:rPr lang="pt-PT" sz="1600" dirty="0" err="1">
                <a:latin typeface="Plus Jakarta Sans"/>
              </a:rPr>
              <a:t>whoami</a:t>
            </a:r>
            <a:r>
              <a:rPr lang="pt-PT" sz="1600" dirty="0">
                <a:latin typeface="Plus Jakarta Sans"/>
              </a:rPr>
              <a:t> &lt;nome-da-sua-imagem&gt; para confirmar que o contentor é executado sob o utilizador </a:t>
            </a:r>
            <a:r>
              <a:rPr lang="pt-PT" sz="1600" dirty="0" err="1">
                <a:latin typeface="Plus Jakarta Sans"/>
              </a:rPr>
              <a:t>appuser</a:t>
            </a:r>
            <a:r>
              <a:rPr lang="pt-PT" sz="1600" dirty="0">
                <a:latin typeface="Plus Jakarta Sans"/>
              </a:rPr>
              <a:t> em vez do </a:t>
            </a:r>
            <a:r>
              <a:rPr lang="pt-PT" sz="1600" i="1" dirty="0" err="1">
                <a:latin typeface="Plus Jakarta Sans"/>
              </a:rPr>
              <a:t>root</a:t>
            </a:r>
            <a:r>
              <a:rPr lang="pt-PT" sz="1600" dirty="0">
                <a:latin typeface="Plus Jakarta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3582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69889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Plus Jakarta Sans"/>
              </a:rPr>
              <a:t>https://www.opsmx.com/blog/wp-content/uploads/2023/06/DevSecOps-Architecture.png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2345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Plus Jakarta Sans"/>
              </a:rPr>
              <a:t>Source: www.opsmx.com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1275</Words>
  <Application>Microsoft Office PowerPoint</Application>
  <PresentationFormat>Ecrã Panorâmico</PresentationFormat>
  <Paragraphs>165</Paragraphs>
  <Slides>16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16</vt:i4>
      </vt:variant>
    </vt:vector>
  </HeadingPairs>
  <TitlesOfParts>
    <vt:vector size="21" baseType="lpstr">
      <vt:lpstr>Plus Jakarta Sans</vt:lpstr>
      <vt:lpstr>JetBrains Mono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AMARAL Eduardo (External)</cp:lastModifiedBy>
  <cp:revision>2</cp:revision>
  <dcterms:created xsi:type="dcterms:W3CDTF">2013-01-27T09:14:16Z</dcterms:created>
  <dcterms:modified xsi:type="dcterms:W3CDTF">2026-10-13T18:58:14Z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df41d6-74a9-4a97-809c-213cd32520cc_Enabled">
    <vt:lpwstr>true</vt:lpwstr>
  </property>
  <property fmtid="{D5CDD505-2E9C-101B-9397-08002B2CF9AE}" pid="3" name="MSIP_Label_b1df41d6-74a9-4a97-809c-213cd32520cc_SetDate">
    <vt:lpwstr>2026-10-13T18:58:06Z</vt:lpwstr>
  </property>
  <property fmtid="{D5CDD505-2E9C-101B-9397-08002B2CF9AE}" pid="4" name="MSIP_Label_b1df41d6-74a9-4a97-809c-213cd32520cc_Method">
    <vt:lpwstr>Standard</vt:lpwstr>
  </property>
  <property fmtid="{D5CDD505-2E9C-101B-9397-08002B2CF9AE}" pid="5" name="MSIP_Label_b1df41d6-74a9-4a97-809c-213cd32520cc_Name">
    <vt:lpwstr>GSCEU - NON PUBLIC Label</vt:lpwstr>
  </property>
  <property fmtid="{D5CDD505-2E9C-101B-9397-08002B2CF9AE}" pid="6" name="MSIP_Label_b1df41d6-74a9-4a97-809c-213cd32520cc_SiteId">
    <vt:lpwstr>03ad1c97-0a4d-4e82-8f93-27291a6a0767</vt:lpwstr>
  </property>
  <property fmtid="{D5CDD505-2E9C-101B-9397-08002B2CF9AE}" pid="7" name="MSIP_Label_b1df41d6-74a9-4a97-809c-213cd32520cc_ActionId">
    <vt:lpwstr>4c35dc58-2fc5-43c0-a4fb-242dd75721c1</vt:lpwstr>
  </property>
  <property fmtid="{D5CDD505-2E9C-101B-9397-08002B2CF9AE}" pid="8" name="MSIP_Label_b1df41d6-74a9-4a97-809c-213cd32520cc_ContentBits">
    <vt:lpwstr>0</vt:lpwstr>
  </property>
  <property fmtid="{D5CDD505-2E9C-101B-9397-08002B2CF9AE}" pid="9" name="MSIP_Label_b1df41d6-74a9-4a97-809c-213cd32520cc_Tag">
    <vt:lpwstr>10, 3, 0, 1</vt:lpwstr>
  </property>
</Properties>
</file>